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"/>
  </p:notesMasterIdLst>
  <p:sldIdLst>
    <p:sldId id="256" r:id="rId4"/>
    <p:sldId id="257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 /><Relationship Id="rId11" Type="http://schemas.openxmlformats.org/officeDocument/2006/relationships/tableStyles" Target="tableStyles.xml" /><Relationship Id="rId1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606671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1534535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27285804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85271684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5990440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8112763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74771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20953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5156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62378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72583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26409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7DDC1E-C0CD-C052-6756-8F8E379A3F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9780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82230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50047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F89B9B-3E0D-7BF7-6B4B-0FD83251F2C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73983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94409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10275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4D2F84-1D72-6408-D553-9DDABAB266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29168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69499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55788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6ED787-B00F-19D8-50E7-C0009AAE567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215343" name="Shape 1059"/>
          <p:cNvSpPr>
            <a:spLocks noChangeArrowheads="1" noGrp="1"/>
          </p:cNvSpPr>
          <p:nvPr userDrawn="1"/>
        </p:nvSpPr>
        <p:spPr bwMode="auto">
          <a:xfrm>
            <a:off x="2396066" y="2291401"/>
            <a:ext cx="5452533" cy="41651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112" y="3116"/>
                </a:moveTo>
                <a:lnTo>
                  <a:pt x="22112" y="3116"/>
                </a:lnTo>
                <a:cubicBezTo>
                  <a:pt x="22112" y="3116"/>
                  <a:pt x="27356" y="0"/>
                  <a:pt x="30300" y="4263"/>
                </a:cubicBezTo>
                <a:lnTo>
                  <a:pt x="30300" y="4263"/>
                </a:lnTo>
                <a:cubicBezTo>
                  <a:pt x="33277" y="8577"/>
                  <a:pt x="36666" y="13779"/>
                  <a:pt x="39369" y="17410"/>
                </a:cubicBezTo>
                <a:lnTo>
                  <a:pt x="39369" y="17410"/>
                </a:lnTo>
                <a:cubicBezTo>
                  <a:pt x="41761" y="20624"/>
                  <a:pt x="43200" y="22708"/>
                  <a:pt x="40979" y="26940"/>
                </a:cubicBezTo>
                <a:lnTo>
                  <a:pt x="40979" y="26940"/>
                </a:lnTo>
                <a:cubicBezTo>
                  <a:pt x="39655" y="29461"/>
                  <a:pt x="35076" y="35072"/>
                  <a:pt x="32639" y="38623"/>
                </a:cubicBezTo>
                <a:lnTo>
                  <a:pt x="32639" y="38623"/>
                </a:lnTo>
                <a:cubicBezTo>
                  <a:pt x="30200" y="42175"/>
                  <a:pt x="26202" y="43200"/>
                  <a:pt x="23268" y="42185"/>
                </a:cubicBezTo>
                <a:lnTo>
                  <a:pt x="23268" y="42185"/>
                </a:lnTo>
                <a:cubicBezTo>
                  <a:pt x="20331" y="41168"/>
                  <a:pt x="11584" y="38623"/>
                  <a:pt x="6213" y="36974"/>
                </a:cubicBezTo>
                <a:lnTo>
                  <a:pt x="6213" y="36974"/>
                </a:lnTo>
                <a:cubicBezTo>
                  <a:pt x="1431" y="35502"/>
                  <a:pt x="0" y="32900"/>
                  <a:pt x="214" y="31157"/>
                </a:cubicBezTo>
                <a:lnTo>
                  <a:pt x="214" y="31157"/>
                </a:lnTo>
                <a:cubicBezTo>
                  <a:pt x="760" y="26703"/>
                  <a:pt x="1113" y="19920"/>
                  <a:pt x="1214" y="16042"/>
                </a:cubicBezTo>
                <a:lnTo>
                  <a:pt x="1214" y="16042"/>
                </a:lnTo>
                <a:cubicBezTo>
                  <a:pt x="1303" y="12626"/>
                  <a:pt x="4203" y="11313"/>
                  <a:pt x="6907" y="9989"/>
                </a:cubicBezTo>
                <a:lnTo>
                  <a:pt x="6907" y="9989"/>
                </a:lnTo>
                <a:cubicBezTo>
                  <a:pt x="9245" y="8843"/>
                  <a:pt x="19774" y="4261"/>
                  <a:pt x="22112" y="311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834861784" name="Shape 1060"/>
          <p:cNvSpPr>
            <a:spLocks noChangeArrowheads="1" noGrp="1"/>
          </p:cNvSpPr>
          <p:nvPr userDrawn="1"/>
        </p:nvSpPr>
        <p:spPr bwMode="auto">
          <a:xfrm>
            <a:off x="1309514" y="1839834"/>
            <a:ext cx="4011787" cy="131432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0162" y="13104"/>
                </a:moveTo>
                <a:lnTo>
                  <a:pt x="40162" y="13104"/>
                </a:lnTo>
                <a:cubicBezTo>
                  <a:pt x="36799" y="16736"/>
                  <a:pt x="26204" y="28154"/>
                  <a:pt x="22676" y="31251"/>
                </a:cubicBezTo>
                <a:lnTo>
                  <a:pt x="22676" y="31251"/>
                </a:lnTo>
                <a:cubicBezTo>
                  <a:pt x="18513" y="34899"/>
                  <a:pt x="15093" y="37527"/>
                  <a:pt x="13136" y="38511"/>
                </a:cubicBezTo>
                <a:lnTo>
                  <a:pt x="13136" y="38511"/>
                </a:lnTo>
                <a:cubicBezTo>
                  <a:pt x="10861" y="39650"/>
                  <a:pt x="0" y="43200"/>
                  <a:pt x="422" y="38511"/>
                </a:cubicBezTo>
                <a:lnTo>
                  <a:pt x="422" y="38511"/>
                </a:lnTo>
                <a:cubicBezTo>
                  <a:pt x="750" y="34836"/>
                  <a:pt x="12785" y="17028"/>
                  <a:pt x="15584" y="14358"/>
                </a:cubicBezTo>
                <a:lnTo>
                  <a:pt x="15584" y="14358"/>
                </a:lnTo>
                <a:cubicBezTo>
                  <a:pt x="18382" y="11693"/>
                  <a:pt x="34508" y="0"/>
                  <a:pt x="36286" y="2133"/>
                </a:cubicBezTo>
                <a:lnTo>
                  <a:pt x="36286" y="2133"/>
                </a:lnTo>
                <a:cubicBezTo>
                  <a:pt x="38064" y="4272"/>
                  <a:pt x="43200" y="9825"/>
                  <a:pt x="40162" y="1310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37603887" name="Shape 1061"/>
          <p:cNvSpPr>
            <a:spLocks noChangeArrowheads="1" noGrp="1"/>
          </p:cNvSpPr>
          <p:nvPr userDrawn="1"/>
        </p:nvSpPr>
        <p:spPr bwMode="auto">
          <a:xfrm>
            <a:off x="6567030" y="4629133"/>
            <a:ext cx="5395523" cy="2231707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42680" y="32337"/>
                  <a:pt x="42264" y="24810"/>
                  <a:pt x="41982" y="22533"/>
                </a:cubicBezTo>
                <a:lnTo>
                  <a:pt x="41982" y="22533"/>
                </a:lnTo>
                <a:cubicBezTo>
                  <a:pt x="41353" y="17445"/>
                  <a:pt x="31020" y="10782"/>
                  <a:pt x="25434" y="7567"/>
                </a:cubicBezTo>
                <a:lnTo>
                  <a:pt x="25434" y="7567"/>
                </a:lnTo>
                <a:cubicBezTo>
                  <a:pt x="20461" y="4707"/>
                  <a:pt x="15752" y="0"/>
                  <a:pt x="10688" y="12771"/>
                </a:cubicBezTo>
                <a:lnTo>
                  <a:pt x="10688" y="12771"/>
                </a:lnTo>
                <a:cubicBezTo>
                  <a:pt x="5409" y="26085"/>
                  <a:pt x="2329" y="33891"/>
                  <a:pt x="451" y="39632"/>
                </a:cubicBezTo>
                <a:lnTo>
                  <a:pt x="451" y="39632"/>
                </a:lnTo>
                <a:cubicBezTo>
                  <a:pt x="180" y="40459"/>
                  <a:pt x="44" y="41820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85927917" name="Shape 1062"/>
          <p:cNvSpPr>
            <a:spLocks noChangeArrowheads="1" noGrp="1"/>
          </p:cNvSpPr>
          <p:nvPr userDrawn="1"/>
        </p:nvSpPr>
        <p:spPr bwMode="auto">
          <a:xfrm>
            <a:off x="389187" y="6100774"/>
            <a:ext cx="4968521" cy="75999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37750" y="34083"/>
                  <a:pt x="28707" y="20178"/>
                  <a:pt x="28707" y="20178"/>
                </a:cubicBezTo>
                <a:lnTo>
                  <a:pt x="28707" y="20178"/>
                </a:lnTo>
                <a:cubicBezTo>
                  <a:pt x="23196" y="11772"/>
                  <a:pt x="17935" y="0"/>
                  <a:pt x="14588" y="1341"/>
                </a:cubicBezTo>
                <a:lnTo>
                  <a:pt x="14588" y="1341"/>
                </a:lnTo>
                <a:cubicBezTo>
                  <a:pt x="11240" y="2673"/>
                  <a:pt x="6350" y="22671"/>
                  <a:pt x="1602" y="37718"/>
                </a:cubicBezTo>
                <a:lnTo>
                  <a:pt x="1602" y="37718"/>
                </a:lnTo>
                <a:cubicBezTo>
                  <a:pt x="1072" y="39393"/>
                  <a:pt x="536" y="41175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45752841" name="Shape 1063"/>
          <p:cNvSpPr>
            <a:spLocks noChangeArrowheads="1" noGrp="1"/>
          </p:cNvSpPr>
          <p:nvPr userDrawn="1"/>
        </p:nvSpPr>
        <p:spPr bwMode="auto">
          <a:xfrm>
            <a:off x="0" y="3254701"/>
            <a:ext cx="2099733" cy="3343682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43200"/>
                </a:moveTo>
                <a:lnTo>
                  <a:pt x="0" y="43200"/>
                </a:lnTo>
                <a:cubicBezTo>
                  <a:pt x="10450" y="39319"/>
                  <a:pt x="26476" y="34991"/>
                  <a:pt x="31760" y="32779"/>
                </a:cubicBezTo>
                <a:lnTo>
                  <a:pt x="31760" y="32779"/>
                </a:lnTo>
                <a:cubicBezTo>
                  <a:pt x="38554" y="29929"/>
                  <a:pt x="35982" y="23868"/>
                  <a:pt x="39587" y="11934"/>
                </a:cubicBezTo>
                <a:lnTo>
                  <a:pt x="39587" y="11934"/>
                </a:lnTo>
                <a:cubicBezTo>
                  <a:pt x="43199" y="0"/>
                  <a:pt x="33409" y="2565"/>
                  <a:pt x="25082" y="2041"/>
                </a:cubicBezTo>
                <a:lnTo>
                  <a:pt x="25082" y="2041"/>
                </a:lnTo>
                <a:cubicBezTo>
                  <a:pt x="14497" y="1374"/>
                  <a:pt x="7053" y="4621"/>
                  <a:pt x="0" y="7243"/>
                </a:cubicBezTo>
                <a:lnTo>
                  <a:pt x="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946280982" name="Subtitle 2"/>
          <p:cNvSpPr>
            <a:spLocks noGrp="1"/>
          </p:cNvSpPr>
          <p:nvPr>
            <p:ph type="subTitle" idx="1"/>
          </p:nvPr>
        </p:nvSpPr>
        <p:spPr bwMode="auto">
          <a:xfrm>
            <a:off x="4655839" y="2708919"/>
            <a:ext cx="6720745" cy="720079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189565933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05242471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291108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  <p:sp>
        <p:nvSpPr>
          <p:cNvPr id="474591386" name="Title 6"/>
          <p:cNvSpPr>
            <a:spLocks noGrp="1"/>
          </p:cNvSpPr>
          <p:nvPr>
            <p:ph type="title"/>
          </p:nvPr>
        </p:nvSpPr>
        <p:spPr bwMode="auto">
          <a:xfrm>
            <a:off x="4595833" y="1808820"/>
            <a:ext cx="6720745" cy="720079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720984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1780830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63635183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0563400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64740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0401414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277197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47520056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51435625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91940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891081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07610275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9367960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177061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67827878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84643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398587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46775536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75667282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599" y="2174874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891789679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1569812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70" y="2174874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61038652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304913920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9643392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35365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13317035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305671171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563442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233862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772493932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513187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5860725" name="Title 1"/>
          <p:cNvSpPr>
            <a:spLocks noGrp="1"/>
          </p:cNvSpPr>
          <p:nvPr>
            <p:ph type="title"/>
          </p:nvPr>
        </p:nvSpPr>
        <p:spPr bwMode="auto">
          <a:xfrm>
            <a:off x="609603" y="273049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57131785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3051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36336347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3" y="1435102"/>
            <a:ext cx="401108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85276025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09517872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712081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141525" name="Title 1"/>
          <p:cNvSpPr>
            <a:spLocks noGrp="1"/>
          </p:cNvSpPr>
          <p:nvPr>
            <p:ph type="title"/>
          </p:nvPr>
        </p:nvSpPr>
        <p:spPr bwMode="auto"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44203440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389717" y="612774"/>
            <a:ext cx="7315200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64498902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4531981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8031256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67233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871662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04599236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45214780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6925679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78306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887122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39"/>
            <a:ext cx="2743200" cy="5851525"/>
          </a:xfrm>
        </p:spPr>
        <p:txBody>
          <a:bodyPr vert="eaVert"/>
          <a:lstStyle>
            <a:lvl1pPr algn="ct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6278039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39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02294002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72569294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203571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8242367" name="Shape 1059"/>
          <p:cNvSpPr>
            <a:spLocks noChangeArrowheads="1" noGrp="1"/>
          </p:cNvSpPr>
          <p:nvPr userDrawn="1"/>
        </p:nvSpPr>
        <p:spPr bwMode="auto">
          <a:xfrm>
            <a:off x="4976706" y="2"/>
            <a:ext cx="3058159" cy="8937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0"/>
                </a:moveTo>
                <a:lnTo>
                  <a:pt x="0" y="0"/>
                </a:lnTo>
                <a:cubicBezTo>
                  <a:pt x="1690" y="6213"/>
                  <a:pt x="3698" y="13338"/>
                  <a:pt x="6091" y="21902"/>
                </a:cubicBezTo>
                <a:lnTo>
                  <a:pt x="6091" y="21902"/>
                </a:lnTo>
                <a:cubicBezTo>
                  <a:pt x="12043" y="43199"/>
                  <a:pt x="17573" y="35347"/>
                  <a:pt x="23417" y="30579"/>
                </a:cubicBezTo>
                <a:lnTo>
                  <a:pt x="23417" y="30579"/>
                </a:lnTo>
                <a:cubicBezTo>
                  <a:pt x="29984" y="25223"/>
                  <a:pt x="42123" y="14119"/>
                  <a:pt x="42860" y="5640"/>
                </a:cubicBezTo>
                <a:lnTo>
                  <a:pt x="42860" y="5640"/>
                </a:lnTo>
                <a:cubicBezTo>
                  <a:pt x="42960" y="4507"/>
                  <a:pt x="43072" y="2479"/>
                  <a:pt x="432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958134581" name="Shape 1060"/>
          <p:cNvSpPr>
            <a:spLocks noChangeArrowheads="1" noGrp="1"/>
          </p:cNvSpPr>
          <p:nvPr userDrawn="1"/>
        </p:nvSpPr>
        <p:spPr bwMode="auto">
          <a:xfrm>
            <a:off x="-24679" y="1"/>
            <a:ext cx="1399539" cy="17975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1743" y="2484"/>
                </a:moveTo>
                <a:lnTo>
                  <a:pt x="31743" y="2484"/>
                </a:lnTo>
                <a:cubicBezTo>
                  <a:pt x="30428" y="1799"/>
                  <a:pt x="28450" y="1080"/>
                  <a:pt x="26054" y="0"/>
                </a:cubicBezTo>
                <a:lnTo>
                  <a:pt x="0" y="0"/>
                </a:lnTo>
                <a:lnTo>
                  <a:pt x="0" y="34200"/>
                </a:lnTo>
                <a:lnTo>
                  <a:pt x="0" y="34200"/>
                </a:lnTo>
                <a:cubicBezTo>
                  <a:pt x="7029" y="37461"/>
                  <a:pt x="14504" y="41491"/>
                  <a:pt x="25070" y="40664"/>
                </a:cubicBezTo>
                <a:lnTo>
                  <a:pt x="25070" y="40664"/>
                </a:lnTo>
                <a:cubicBezTo>
                  <a:pt x="33399" y="40015"/>
                  <a:pt x="43200" y="43200"/>
                  <a:pt x="39593" y="28375"/>
                </a:cubicBezTo>
                <a:lnTo>
                  <a:pt x="39593" y="28375"/>
                </a:lnTo>
                <a:cubicBezTo>
                  <a:pt x="35986" y="13550"/>
                  <a:pt x="38530" y="6023"/>
                  <a:pt x="31743" y="248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44675532" name="Shape 1061"/>
          <p:cNvSpPr>
            <a:spLocks noChangeArrowheads="1" noGrp="1"/>
          </p:cNvSpPr>
          <p:nvPr userDrawn="1"/>
        </p:nvSpPr>
        <p:spPr bwMode="auto">
          <a:xfrm>
            <a:off x="1637456" y="1"/>
            <a:ext cx="3839633" cy="26096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2864" y="0"/>
                </a:moveTo>
                <a:lnTo>
                  <a:pt x="10583" y="0"/>
                </a:lnTo>
                <a:lnTo>
                  <a:pt x="10583" y="0"/>
                </a:lnTo>
                <a:cubicBezTo>
                  <a:pt x="9017" y="532"/>
                  <a:pt x="7515" y="1058"/>
                  <a:pt x="6214" y="1509"/>
                </a:cubicBezTo>
                <a:lnTo>
                  <a:pt x="6214" y="1509"/>
                </a:lnTo>
                <a:cubicBezTo>
                  <a:pt x="1428" y="3166"/>
                  <a:pt x="0" y="6109"/>
                  <a:pt x="212" y="8072"/>
                </a:cubicBezTo>
                <a:lnTo>
                  <a:pt x="212" y="8072"/>
                </a:lnTo>
                <a:cubicBezTo>
                  <a:pt x="758" y="13092"/>
                  <a:pt x="1111" y="20742"/>
                  <a:pt x="1212" y="25114"/>
                </a:cubicBezTo>
                <a:lnTo>
                  <a:pt x="1212" y="25114"/>
                </a:lnTo>
                <a:cubicBezTo>
                  <a:pt x="1301" y="28962"/>
                  <a:pt x="4204" y="30446"/>
                  <a:pt x="6906" y="31937"/>
                </a:cubicBezTo>
                <a:lnTo>
                  <a:pt x="6906" y="31937"/>
                </a:lnTo>
                <a:cubicBezTo>
                  <a:pt x="9246" y="33229"/>
                  <a:pt x="19775" y="38395"/>
                  <a:pt x="22112" y="39685"/>
                </a:cubicBezTo>
                <a:lnTo>
                  <a:pt x="22112" y="39685"/>
                </a:lnTo>
                <a:cubicBezTo>
                  <a:pt x="22112" y="39685"/>
                  <a:pt x="27355" y="43200"/>
                  <a:pt x="30298" y="38395"/>
                </a:cubicBezTo>
                <a:lnTo>
                  <a:pt x="30298" y="38395"/>
                </a:lnTo>
                <a:cubicBezTo>
                  <a:pt x="33277" y="33533"/>
                  <a:pt x="36665" y="27667"/>
                  <a:pt x="39367" y="23576"/>
                </a:cubicBezTo>
                <a:lnTo>
                  <a:pt x="39367" y="23576"/>
                </a:lnTo>
                <a:cubicBezTo>
                  <a:pt x="41761" y="19953"/>
                  <a:pt x="43200" y="17587"/>
                  <a:pt x="40977" y="12816"/>
                </a:cubicBezTo>
                <a:lnTo>
                  <a:pt x="40977" y="12816"/>
                </a:lnTo>
                <a:cubicBezTo>
                  <a:pt x="39697" y="10062"/>
                  <a:pt x="35347" y="3936"/>
                  <a:pt x="3286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931147852" name="Title 1"/>
          <p:cNvSpPr>
            <a:spLocks noGrp="1"/>
          </p:cNvSpPr>
          <p:nvPr>
            <p:ph type="title"/>
          </p:nvPr>
        </p:nvSpPr>
        <p:spPr bwMode="auto">
          <a:xfrm>
            <a:off x="609599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9291062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600201"/>
            <a:ext cx="109728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99205947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09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2965764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599" y="6356351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5078764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737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0">
        <a:spcBef>
          <a:spcPts val="0"/>
        </a:spcBef>
        <a:buNone/>
        <a:defRPr sz="44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599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0517422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3107098" y="2381249"/>
            <a:ext cx="8476179" cy="1938349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4800"/>
              <a:t>Big Data: </a:t>
            </a:r>
            <a:r>
              <a:rPr lang="en-US" sz="4800" b="1"/>
              <a:t>Project</a:t>
            </a:r>
            <a:endParaRPr sz="4800"/>
          </a:p>
        </p:txBody>
      </p:sp>
      <p:sp>
        <p:nvSpPr>
          <p:cNvPr id="379099720" name=""/>
          <p:cNvSpPr txBox="1"/>
          <p:nvPr/>
        </p:nvSpPr>
        <p:spPr bwMode="auto">
          <a:xfrm rot="0" flipH="0" flipV="0">
            <a:off x="8175183" y="6395719"/>
            <a:ext cx="3868032" cy="3657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/>
              <a:t>https://github.com/jendralhxr/bigdata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453242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sz="3200"/>
              <a:t>Karakteristik (5+3...V)</a:t>
            </a:r>
            <a:endParaRPr sz="3200"/>
          </a:p>
        </p:txBody>
      </p:sp>
      <p:sp>
        <p:nvSpPr>
          <p:cNvPr id="1113996478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Volume </a:t>
            </a: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(tera-petabyte, lah)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Velocity </a:t>
            </a: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(terus bertambah)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Variety </a:t>
            </a: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(berbagai jenis bacaan/kolom sekaligus)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Veracity (tingkat keakuratan dan keandalan data)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Value (</a:t>
            </a:r>
            <a:r>
              <a:rPr lang="en-US" sz="3200" b="0" i="1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knowledge </a:t>
            </a: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yang bisa </a:t>
            </a:r>
            <a:r>
              <a:rPr lang="en-US" sz="3200" b="0" i="1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dikulik</a:t>
            </a: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)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Variability (perubahan pola)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Volatility (kadang ada, kadang tiada)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Visualization (digest, cuplikan informatif)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4092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sz="3200"/>
              <a:t>Struktur Portfolio</a:t>
            </a:r>
            <a:r>
              <a:rPr sz="3200"/>
              <a:t>: sebelum ETS</a:t>
            </a:r>
            <a:endParaRPr sz="3200"/>
          </a:p>
        </p:txBody>
      </p:sp>
      <p:sp>
        <p:nvSpPr>
          <p:cNvPr id="1391793367" name="Content Placeholder 2"/>
          <p:cNvSpPr>
            <a:spLocks noGrp="1"/>
          </p:cNvSpPr>
          <p:nvPr>
            <p:ph idx="1"/>
          </p:nvPr>
        </p:nvSpPr>
        <p:spPr bwMode="auto">
          <a:xfrm>
            <a:off x="609598" y="1600200"/>
            <a:ext cx="10972800" cy="452596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Latar belakang mengapa penting, urgen, atau menarik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Sumber data, metode akuisisi, penilaian </a:t>
            </a:r>
            <a:r>
              <a:rPr lang="en-US" sz="3200" b="1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5V </a:t>
            </a: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pertama</a:t>
            </a:r>
            <a:endParaRPr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Data yang diapat dan bagaimana wrangling (normalisasi, penyeragaman, etc)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Bagaimana tambahan data baru dapat memperjelas/meningkatkan </a:t>
            </a:r>
            <a:r>
              <a:rPr lang="en-US" sz="3200" b="0" i="1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keampuhan </a:t>
            </a: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model analisis</a:t>
            </a:r>
            <a:endParaRPr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831905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sz="3200"/>
              <a:t>Struktur Portfolio</a:t>
            </a:r>
            <a:r>
              <a:rPr sz="3200"/>
              <a:t>: setelah ETS</a:t>
            </a:r>
            <a:r>
              <a:rPr sz="3200"/>
              <a:t> sampai EAS</a:t>
            </a:r>
            <a:endParaRPr sz="3200"/>
          </a:p>
        </p:txBody>
      </p:sp>
      <p:sp>
        <p:nvSpPr>
          <p:cNvPr id="2067170341" name="Content Placeholder 2"/>
          <p:cNvSpPr>
            <a:spLocks noGrp="1"/>
          </p:cNvSpPr>
          <p:nvPr>
            <p:ph idx="1"/>
          </p:nvPr>
        </p:nvSpPr>
        <p:spPr bwMode="auto">
          <a:xfrm>
            <a:off x="609597" y="1600200"/>
            <a:ext cx="10972800" cy="452596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Metode pengolahan: </a:t>
            </a:r>
            <a:r>
              <a:rPr lang="en-US" sz="3200" b="0" i="1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feature extraction, pattern recognition, </a:t>
            </a:r>
            <a:r>
              <a:rPr lang="en-US" sz="3200" b="0" i="1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optimization</a:t>
            </a: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, etc.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Visualisasi sebagai insight, bahan pertimbangan eksekutif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Tambahan update data dengan data yang lebih baru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Bagaimana handle data saat tidak ada data: Inputasi? Replikasi? Ambil dari sumber lain?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Rating </a:t>
            </a:r>
            <a:r>
              <a:rPr lang="en-US" sz="3200" b="1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3V</a:t>
            </a: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 yang terakhir</a:t>
            </a:r>
            <a:endParaRPr lang="en-US"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073465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sz="3200"/>
              <a:t>Portfolio</a:t>
            </a:r>
            <a:endParaRPr sz="3200"/>
          </a:p>
        </p:txBody>
      </p:sp>
      <p:sp>
        <p:nvSpPr>
          <p:cNvPr id="2118608497" name="Content Placeholder 2"/>
          <p:cNvSpPr>
            <a:spLocks noGrp="1"/>
          </p:cNvSpPr>
          <p:nvPr>
            <p:ph idx="1"/>
          </p:nvPr>
        </p:nvSpPr>
        <p:spPr bwMode="auto">
          <a:xfrm>
            <a:off x="609597" y="1600200"/>
            <a:ext cx="10972800" cy="452596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Ditulis di python notebook</a:t>
            </a:r>
            <a:endParaRPr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Upload di </a:t>
            </a:r>
            <a:r>
              <a:rPr sz="3200" b="1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github</a:t>
            </a:r>
            <a:endParaRPr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Mohon diupdate commit secara berkala, kalau bisa oleh anggota kelompok yang berbeda sesuai pembagian job desc </a:t>
            </a:r>
            <a:r>
              <a:rPr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(atau kesenggangan)</a:t>
            </a:r>
            <a:endParaRPr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File-file terkait yang sekiranya ukurannya masih ‘praktis’ diupload ke github (CSV, gambar grafik, PDF/PPT hasil diskusi, etc) juga mohon diupload</a:t>
            </a:r>
            <a:endParaRPr sz="3200" b="0" i="0" u="none" strike="noStrike" cap="none" spc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urt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ONLYOFFICE/9.2.0.100</Application>
  <PresentationFormat>On-screen Show (4:3)</PresentationFormat>
  <Paragraphs>0</Paragraphs>
  <Slides>5</Slides>
  <Notes>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Theme 1</vt:lpstr>
      <vt:lpstr>Slide 1</vt:lpstr>
      <vt:lpstr>Slide 2</vt:lpstr>
      <vt:lpstr>Slide 3</vt:lpstr>
      <vt:lpstr>Slide 4</vt:lpstr>
      <vt:lpstr>Slide 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</cp:revision>
  <dcterms:modified xsi:type="dcterms:W3CDTF">2026-03-13T07:01:38Z</dcterms:modified>
</cp:coreProperties>
</file>